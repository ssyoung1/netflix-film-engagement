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58" r:id="rId3"/>
    <p:sldId id="260" r:id="rId4"/>
    <p:sldId id="259" r:id="rId5"/>
    <p:sldId id="263" r:id="rId6"/>
    <p:sldId id="262" r:id="rId7"/>
    <p:sldId id="257"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A94BEF-88B1-4D32-910B-04833F193433}" v="26" dt="2023-05-04T13:31:00.8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65" autoAdjust="0"/>
    <p:restoredTop sz="89068"/>
  </p:normalViewPr>
  <p:slideViewPr>
    <p:cSldViewPr snapToGrid="0">
      <p:cViewPr varScale="1">
        <p:scale>
          <a:sx n="95" d="100"/>
          <a:sy n="95" d="100"/>
        </p:scale>
        <p:origin x="96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FDDB7D-E7C0-5746-A30D-8C7A061FBEF4}" type="datetimeFigureOut">
              <a:rPr lang="en-US" smtClean="0"/>
              <a:t>5/4/23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195694-C5A7-724C-BF22-C2052AE57F33}" type="slidenum">
              <a:rPr lang="en-US" smtClean="0"/>
              <a:t>‹#›</a:t>
            </a:fld>
            <a:endParaRPr lang="en-US"/>
          </a:p>
        </p:txBody>
      </p:sp>
    </p:spTree>
    <p:extLst>
      <p:ext uri="{BB962C8B-B14F-4D97-AF65-F5344CB8AC3E}">
        <p14:creationId xmlns:p14="http://schemas.microsoft.com/office/powerpoint/2010/main" val="3712916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reports menu </a:t>
            </a:r>
            <a:r>
              <a:rPr lang="en-US" dirty="0">
                <a:sym typeface="Wingdings" pitchFamily="2" charset="2"/>
              </a:rPr>
              <a:t> Lifecycle  Acquisition  Traffic acquisition  set to </a:t>
            </a:r>
            <a:r>
              <a:rPr lang="en-US" b="1" i="1" dirty="0">
                <a:sym typeface="Wingdings" pitchFamily="2" charset="2"/>
              </a:rPr>
              <a:t>Session source / medium</a:t>
            </a:r>
          </a:p>
          <a:p>
            <a:endParaRPr lang="en-US" b="0" i="0" dirty="0">
              <a:sym typeface="Wingdings" pitchFamily="2" charset="2"/>
            </a:endParaRPr>
          </a:p>
          <a:p>
            <a:r>
              <a:rPr lang="en-US" b="0" i="0" dirty="0">
                <a:sym typeface="Wingdings" pitchFamily="2" charset="2"/>
              </a:rPr>
              <a:t>Make sure I can see your domain name.</a:t>
            </a:r>
            <a:endParaRPr lang="en-US" b="0" i="0" dirty="0"/>
          </a:p>
        </p:txBody>
      </p:sp>
      <p:sp>
        <p:nvSpPr>
          <p:cNvPr id="4" name="Slide Number Placeholder 3"/>
          <p:cNvSpPr>
            <a:spLocks noGrp="1"/>
          </p:cNvSpPr>
          <p:nvPr>
            <p:ph type="sldNum" sz="quarter" idx="5"/>
          </p:nvPr>
        </p:nvSpPr>
        <p:spPr/>
        <p:txBody>
          <a:bodyPr/>
          <a:lstStyle/>
          <a:p>
            <a:fld id="{0F195694-C5A7-724C-BF22-C2052AE57F33}" type="slidenum">
              <a:rPr lang="en-US" smtClean="0"/>
              <a:t>7</a:t>
            </a:fld>
            <a:endParaRPr lang="en-US"/>
          </a:p>
        </p:txBody>
      </p:sp>
    </p:spTree>
    <p:extLst>
      <p:ext uri="{BB962C8B-B14F-4D97-AF65-F5344CB8AC3E}">
        <p14:creationId xmlns:p14="http://schemas.microsoft.com/office/powerpoint/2010/main" val="23262175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5/4/23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5/4/23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5/4/23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5/4/23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5/4/23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ea typeface="Calibri Light"/>
                <a:cs typeface="Calibri Light"/>
              </a:rPr>
              <a:t>Google Analytics report</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r>
              <a:rPr lang="en-US" dirty="0">
                <a:ea typeface="Calibri"/>
                <a:cs typeface="Calibri"/>
              </a:rPr>
              <a:t>BAIS:3300 – Digital Product Management</a:t>
            </a:r>
          </a:p>
          <a:p>
            <a:r>
              <a:rPr lang="en-US" dirty="0">
                <a:ea typeface="Calibri"/>
                <a:cs typeface="Calibri"/>
              </a:rPr>
              <a:t>Sprint 3</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1BA75-1327-7B06-5B7B-57304D988AA4}"/>
              </a:ext>
            </a:extLst>
          </p:cNvPr>
          <p:cNvSpPr>
            <a:spLocks noGrp="1"/>
          </p:cNvSpPr>
          <p:nvPr>
            <p:ph type="title"/>
          </p:nvPr>
        </p:nvSpPr>
        <p:spPr>
          <a:xfrm>
            <a:off x="838200" y="0"/>
            <a:ext cx="10515600" cy="1325563"/>
          </a:xfrm>
        </p:spPr>
        <p:txBody>
          <a:bodyPr/>
          <a:lstStyle/>
          <a:p>
            <a:r>
              <a:rPr lang="en-US" dirty="0"/>
              <a:t>Summary</a:t>
            </a:r>
          </a:p>
        </p:txBody>
      </p:sp>
      <p:sp>
        <p:nvSpPr>
          <p:cNvPr id="3" name="Content Placeholder 2">
            <a:extLst>
              <a:ext uri="{FF2B5EF4-FFF2-40B4-BE49-F238E27FC236}">
                <a16:creationId xmlns:a16="http://schemas.microsoft.com/office/drawing/2014/main" id="{61FF73E8-30D9-0985-541D-EE2F38B70B75}"/>
              </a:ext>
            </a:extLst>
          </p:cNvPr>
          <p:cNvSpPr>
            <a:spLocks noGrp="1"/>
          </p:cNvSpPr>
          <p:nvPr>
            <p:ph idx="1"/>
          </p:nvPr>
        </p:nvSpPr>
        <p:spPr>
          <a:xfrm>
            <a:off x="838200" y="1364343"/>
            <a:ext cx="10515600" cy="5268686"/>
          </a:xfrm>
        </p:spPr>
        <p:txBody>
          <a:bodyPr>
            <a:normAutofit fontScale="92500" lnSpcReduction="10000"/>
          </a:bodyPr>
          <a:lstStyle/>
          <a:p>
            <a:r>
              <a:rPr lang="en-US" dirty="0"/>
              <a:t>I had 156 new users come to my site between April 4 – May 4, 2023</a:t>
            </a:r>
          </a:p>
          <a:p>
            <a:pPr lvl="1"/>
            <a:r>
              <a:rPr lang="en-US" dirty="0"/>
              <a:t>37 of these visitors came back at least one more time.</a:t>
            </a:r>
          </a:p>
          <a:p>
            <a:endParaRPr lang="en-US" dirty="0"/>
          </a:p>
          <a:p>
            <a:r>
              <a:rPr lang="en-US" dirty="0"/>
              <a:t>Nearly all users visited by domain name (</a:t>
            </a:r>
            <a:r>
              <a:rPr lang="en-US" dirty="0" err="1"/>
              <a:t>businessanalytics.me</a:t>
            </a:r>
            <a:r>
              <a:rPr lang="en-US" dirty="0"/>
              <a:t>), not a specific page (like from a link). </a:t>
            </a:r>
          </a:p>
          <a:p>
            <a:endParaRPr lang="en-US" dirty="0"/>
          </a:p>
          <a:p>
            <a:r>
              <a:rPr lang="en-US" dirty="0"/>
              <a:t>Most visitors came from Iowa City and West Branch which makes sense in my context. I’ve lived in West Branch and Iowa City for the past 15 years and my campaigns were targeted to family and friends.</a:t>
            </a:r>
          </a:p>
          <a:p>
            <a:endParaRPr lang="en-US" dirty="0"/>
          </a:p>
          <a:p>
            <a:r>
              <a:rPr lang="en-US" dirty="0"/>
              <a:t>I created two campaigns, one for Facebook posts and one for Twitter posts. </a:t>
            </a:r>
          </a:p>
          <a:p>
            <a:pPr lvl="1"/>
            <a:r>
              <a:rPr lang="en-US" dirty="0"/>
              <a:t>The Facebook campaign was most successful at driving traffic to my site.</a:t>
            </a:r>
          </a:p>
          <a:p>
            <a:pPr lvl="1"/>
            <a:r>
              <a:rPr lang="en-US" dirty="0"/>
              <a:t>Users who came from my website link on GitHub were on my site longer. </a:t>
            </a:r>
          </a:p>
        </p:txBody>
      </p:sp>
    </p:spTree>
    <p:extLst>
      <p:ext uri="{BB962C8B-B14F-4D97-AF65-F5344CB8AC3E}">
        <p14:creationId xmlns:p14="http://schemas.microsoft.com/office/powerpoint/2010/main" val="1003784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Graphical user interface, application&#10;&#10;Description automatically generated">
            <a:extLst>
              <a:ext uri="{FF2B5EF4-FFF2-40B4-BE49-F238E27FC236}">
                <a16:creationId xmlns:a16="http://schemas.microsoft.com/office/drawing/2014/main" id="{26BD7D85-E2D3-4166-7C23-2A88805F7B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69161"/>
            <a:ext cx="12019614" cy="4225713"/>
          </a:xfrm>
          <a:prstGeom prst="rect">
            <a:avLst/>
          </a:prstGeom>
        </p:spPr>
      </p:pic>
      <p:sp>
        <p:nvSpPr>
          <p:cNvPr id="2" name="Title 1">
            <a:extLst>
              <a:ext uri="{FF2B5EF4-FFF2-40B4-BE49-F238E27FC236}">
                <a16:creationId xmlns:a16="http://schemas.microsoft.com/office/drawing/2014/main" id="{320CE7F9-2656-643E-AC36-C26F213665F7}"/>
              </a:ext>
            </a:extLst>
          </p:cNvPr>
          <p:cNvSpPr>
            <a:spLocks noGrp="1"/>
          </p:cNvSpPr>
          <p:nvPr>
            <p:ph type="title"/>
          </p:nvPr>
        </p:nvSpPr>
        <p:spPr>
          <a:xfrm>
            <a:off x="838200" y="411394"/>
            <a:ext cx="10515600" cy="1325563"/>
          </a:xfrm>
        </p:spPr>
        <p:txBody>
          <a:bodyPr/>
          <a:lstStyle/>
          <a:p>
            <a:r>
              <a:rPr lang="en-US" dirty="0"/>
              <a:t>How many visitors came to my site?</a:t>
            </a:r>
          </a:p>
        </p:txBody>
      </p:sp>
      <p:sp>
        <p:nvSpPr>
          <p:cNvPr id="6" name="Rounded Rectangle 5">
            <a:extLst>
              <a:ext uri="{FF2B5EF4-FFF2-40B4-BE49-F238E27FC236}">
                <a16:creationId xmlns:a16="http://schemas.microsoft.com/office/drawing/2014/main" id="{B1631B04-D80D-90EA-65F3-3D48110A3605}"/>
              </a:ext>
            </a:extLst>
          </p:cNvPr>
          <p:cNvSpPr/>
          <p:nvPr/>
        </p:nvSpPr>
        <p:spPr>
          <a:xfrm>
            <a:off x="400260" y="3709975"/>
            <a:ext cx="1689798" cy="702368"/>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BEE23016-6FC6-46EB-4B4B-A600C826FB6E}"/>
              </a:ext>
            </a:extLst>
          </p:cNvPr>
          <p:cNvSpPr/>
          <p:nvPr/>
        </p:nvSpPr>
        <p:spPr>
          <a:xfrm>
            <a:off x="2835326" y="3709975"/>
            <a:ext cx="2157046" cy="1166825"/>
          </a:xfrm>
          <a:prstGeom prst="roundRect">
            <a:avLst/>
          </a:prstGeom>
          <a:noFill/>
          <a:ln w="25400">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9F94C53C-5EDE-7FC3-0436-5C26060DEE42}"/>
              </a:ext>
            </a:extLst>
          </p:cNvPr>
          <p:cNvSpPr/>
          <p:nvPr/>
        </p:nvSpPr>
        <p:spPr>
          <a:xfrm rot="536832">
            <a:off x="5076351" y="3183398"/>
            <a:ext cx="880990" cy="1148862"/>
          </a:xfrm>
          <a:custGeom>
            <a:avLst/>
            <a:gdLst>
              <a:gd name="connsiteX0" fmla="*/ 867508 w 880990"/>
              <a:gd name="connsiteY0" fmla="*/ 0 h 1148862"/>
              <a:gd name="connsiteX1" fmla="*/ 762000 w 880990"/>
              <a:gd name="connsiteY1" fmla="*/ 785446 h 1148862"/>
              <a:gd name="connsiteX2" fmla="*/ 0 w 880990"/>
              <a:gd name="connsiteY2" fmla="*/ 1148862 h 1148862"/>
            </a:gdLst>
            <a:ahLst/>
            <a:cxnLst>
              <a:cxn ang="0">
                <a:pos x="connsiteX0" y="connsiteY0"/>
              </a:cxn>
              <a:cxn ang="0">
                <a:pos x="connsiteX1" y="connsiteY1"/>
              </a:cxn>
              <a:cxn ang="0">
                <a:pos x="connsiteX2" y="connsiteY2"/>
              </a:cxn>
            </a:cxnLst>
            <a:rect l="l" t="t" r="r" b="b"/>
            <a:pathLst>
              <a:path w="880990" h="1148862">
                <a:moveTo>
                  <a:pt x="867508" y="0"/>
                </a:moveTo>
                <a:cubicBezTo>
                  <a:pt x="887046" y="296984"/>
                  <a:pt x="906585" y="593969"/>
                  <a:pt x="762000" y="785446"/>
                </a:cubicBezTo>
                <a:cubicBezTo>
                  <a:pt x="617415" y="976923"/>
                  <a:pt x="308707" y="1062892"/>
                  <a:pt x="0" y="1148862"/>
                </a:cubicBezTo>
              </a:path>
            </a:pathLst>
          </a:custGeom>
          <a:noFill/>
          <a:ln w="38100">
            <a:solidFill>
              <a:srgbClr val="00B0F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34FF39D7-8C74-E255-B422-D9A6F2649658}"/>
              </a:ext>
            </a:extLst>
          </p:cNvPr>
          <p:cNvSpPr/>
          <p:nvPr/>
        </p:nvSpPr>
        <p:spPr>
          <a:xfrm>
            <a:off x="1446963" y="1939738"/>
            <a:ext cx="2157046" cy="690505"/>
          </a:xfrm>
          <a:prstGeom prst="roundRect">
            <a:avLst/>
          </a:prstGeom>
          <a:noFill/>
          <a:ln w="25400">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92CADD4D-A24F-5AB6-AA54-D7D0512E8E83}"/>
              </a:ext>
            </a:extLst>
          </p:cNvPr>
          <p:cNvSpPr/>
          <p:nvPr/>
        </p:nvSpPr>
        <p:spPr>
          <a:xfrm>
            <a:off x="9596941" y="2730316"/>
            <a:ext cx="2101573" cy="419283"/>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5629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D8934-051C-6DD5-29A6-4C051D453F0E}"/>
              </a:ext>
            </a:extLst>
          </p:cNvPr>
          <p:cNvSpPr>
            <a:spLocks noGrp="1"/>
          </p:cNvSpPr>
          <p:nvPr>
            <p:ph type="title"/>
          </p:nvPr>
        </p:nvSpPr>
        <p:spPr/>
        <p:txBody>
          <a:bodyPr/>
          <a:lstStyle/>
          <a:p>
            <a:r>
              <a:rPr lang="en-US" dirty="0"/>
              <a:t>How many of my visitors returned to my site?</a:t>
            </a:r>
          </a:p>
        </p:txBody>
      </p:sp>
      <p:pic>
        <p:nvPicPr>
          <p:cNvPr id="5" name="Content Placeholder 4" descr="Graphical user interface&#10;&#10;Description automatically generated">
            <a:extLst>
              <a:ext uri="{FF2B5EF4-FFF2-40B4-BE49-F238E27FC236}">
                <a16:creationId xmlns:a16="http://schemas.microsoft.com/office/drawing/2014/main" id="{32861B37-D346-ECBB-FF0A-9ED2F706AD8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3580" y="1825625"/>
            <a:ext cx="9944839" cy="4351338"/>
          </a:xfrm>
        </p:spPr>
      </p:pic>
      <p:sp>
        <p:nvSpPr>
          <p:cNvPr id="6" name="Rounded Rectangle 5">
            <a:extLst>
              <a:ext uri="{FF2B5EF4-FFF2-40B4-BE49-F238E27FC236}">
                <a16:creationId xmlns:a16="http://schemas.microsoft.com/office/drawing/2014/main" id="{8D2E3A19-8FCA-CDAB-0F7D-7155A2CCF846}"/>
              </a:ext>
            </a:extLst>
          </p:cNvPr>
          <p:cNvSpPr/>
          <p:nvPr/>
        </p:nvSpPr>
        <p:spPr>
          <a:xfrm>
            <a:off x="1488831" y="4202977"/>
            <a:ext cx="1312985" cy="343708"/>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2D057EF5-C82B-1729-FDDD-0DDEC9732EE4}"/>
              </a:ext>
            </a:extLst>
          </p:cNvPr>
          <p:cNvSpPr/>
          <p:nvPr/>
        </p:nvSpPr>
        <p:spPr>
          <a:xfrm>
            <a:off x="3681046" y="3286054"/>
            <a:ext cx="2157046" cy="916923"/>
          </a:xfrm>
          <a:prstGeom prst="roundRect">
            <a:avLst/>
          </a:prstGeom>
          <a:noFill/>
          <a:ln w="25400">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C050A888-0F64-E489-8DC5-EF0BFF201CAC}"/>
              </a:ext>
            </a:extLst>
          </p:cNvPr>
          <p:cNvSpPr/>
          <p:nvPr/>
        </p:nvSpPr>
        <p:spPr>
          <a:xfrm rot="536832">
            <a:off x="5922070" y="2711622"/>
            <a:ext cx="880990" cy="1148862"/>
          </a:xfrm>
          <a:custGeom>
            <a:avLst/>
            <a:gdLst>
              <a:gd name="connsiteX0" fmla="*/ 867508 w 880990"/>
              <a:gd name="connsiteY0" fmla="*/ 0 h 1148862"/>
              <a:gd name="connsiteX1" fmla="*/ 762000 w 880990"/>
              <a:gd name="connsiteY1" fmla="*/ 785446 h 1148862"/>
              <a:gd name="connsiteX2" fmla="*/ 0 w 880990"/>
              <a:gd name="connsiteY2" fmla="*/ 1148862 h 1148862"/>
            </a:gdLst>
            <a:ahLst/>
            <a:cxnLst>
              <a:cxn ang="0">
                <a:pos x="connsiteX0" y="connsiteY0"/>
              </a:cxn>
              <a:cxn ang="0">
                <a:pos x="connsiteX1" y="connsiteY1"/>
              </a:cxn>
              <a:cxn ang="0">
                <a:pos x="connsiteX2" y="connsiteY2"/>
              </a:cxn>
            </a:cxnLst>
            <a:rect l="l" t="t" r="r" b="b"/>
            <a:pathLst>
              <a:path w="880990" h="1148862">
                <a:moveTo>
                  <a:pt x="867508" y="0"/>
                </a:moveTo>
                <a:cubicBezTo>
                  <a:pt x="887046" y="296984"/>
                  <a:pt x="906585" y="593969"/>
                  <a:pt x="762000" y="785446"/>
                </a:cubicBezTo>
                <a:cubicBezTo>
                  <a:pt x="617415" y="976923"/>
                  <a:pt x="308707" y="1062892"/>
                  <a:pt x="0" y="1148862"/>
                </a:cubicBezTo>
              </a:path>
            </a:pathLst>
          </a:custGeom>
          <a:noFill/>
          <a:ln w="38100">
            <a:solidFill>
              <a:srgbClr val="00B0F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6690DB26-FA58-0C8D-7077-FC70B5BD5E45}"/>
              </a:ext>
            </a:extLst>
          </p:cNvPr>
          <p:cNvSpPr/>
          <p:nvPr/>
        </p:nvSpPr>
        <p:spPr>
          <a:xfrm>
            <a:off x="2145323" y="1588903"/>
            <a:ext cx="2157046" cy="916923"/>
          </a:xfrm>
          <a:prstGeom prst="roundRect">
            <a:avLst/>
          </a:prstGeom>
          <a:noFill/>
          <a:ln w="25400">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9043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Graphical user interface, application&#10;&#10;Description automatically generated">
            <a:extLst>
              <a:ext uri="{FF2B5EF4-FFF2-40B4-BE49-F238E27FC236}">
                <a16:creationId xmlns:a16="http://schemas.microsoft.com/office/drawing/2014/main" id="{EDA89020-A46A-DA45-6628-54A5BAE0DE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593" y="1492108"/>
            <a:ext cx="10766181" cy="5365892"/>
          </a:xfrm>
          <a:prstGeom prst="rect">
            <a:avLst/>
          </a:prstGeom>
        </p:spPr>
      </p:pic>
      <p:sp>
        <p:nvSpPr>
          <p:cNvPr id="2" name="Title 1">
            <a:extLst>
              <a:ext uri="{FF2B5EF4-FFF2-40B4-BE49-F238E27FC236}">
                <a16:creationId xmlns:a16="http://schemas.microsoft.com/office/drawing/2014/main" id="{A8772EA4-1535-536C-DB42-9AD4A62916B5}"/>
              </a:ext>
            </a:extLst>
          </p:cNvPr>
          <p:cNvSpPr>
            <a:spLocks noGrp="1"/>
          </p:cNvSpPr>
          <p:nvPr>
            <p:ph type="title"/>
          </p:nvPr>
        </p:nvSpPr>
        <p:spPr/>
        <p:txBody>
          <a:bodyPr/>
          <a:lstStyle/>
          <a:p>
            <a:r>
              <a:rPr lang="en-US" dirty="0"/>
              <a:t>What are my most popular pages?</a:t>
            </a:r>
          </a:p>
        </p:txBody>
      </p:sp>
      <p:sp>
        <p:nvSpPr>
          <p:cNvPr id="4" name="Rounded Rectangle 3">
            <a:extLst>
              <a:ext uri="{FF2B5EF4-FFF2-40B4-BE49-F238E27FC236}">
                <a16:creationId xmlns:a16="http://schemas.microsoft.com/office/drawing/2014/main" id="{7F39F5E9-0391-4274-D35B-4ACF3DF10BE1}"/>
              </a:ext>
            </a:extLst>
          </p:cNvPr>
          <p:cNvSpPr/>
          <p:nvPr/>
        </p:nvSpPr>
        <p:spPr>
          <a:xfrm>
            <a:off x="3846286" y="5365892"/>
            <a:ext cx="6516914" cy="1271900"/>
          </a:xfrm>
          <a:prstGeom prst="roundRect">
            <a:avLst/>
          </a:prstGeom>
          <a:noFill/>
          <a:ln w="25400">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a:extLst>
              <a:ext uri="{FF2B5EF4-FFF2-40B4-BE49-F238E27FC236}">
                <a16:creationId xmlns:a16="http://schemas.microsoft.com/office/drawing/2014/main" id="{F467D916-0913-DC36-A09B-51471C2A7BB3}"/>
              </a:ext>
            </a:extLst>
          </p:cNvPr>
          <p:cNvSpPr/>
          <p:nvPr/>
        </p:nvSpPr>
        <p:spPr>
          <a:xfrm rot="18086453">
            <a:off x="8414958" y="3727507"/>
            <a:ext cx="880990" cy="1148862"/>
          </a:xfrm>
          <a:custGeom>
            <a:avLst/>
            <a:gdLst>
              <a:gd name="connsiteX0" fmla="*/ 867508 w 880990"/>
              <a:gd name="connsiteY0" fmla="*/ 0 h 1148862"/>
              <a:gd name="connsiteX1" fmla="*/ 762000 w 880990"/>
              <a:gd name="connsiteY1" fmla="*/ 785446 h 1148862"/>
              <a:gd name="connsiteX2" fmla="*/ 0 w 880990"/>
              <a:gd name="connsiteY2" fmla="*/ 1148862 h 1148862"/>
            </a:gdLst>
            <a:ahLst/>
            <a:cxnLst>
              <a:cxn ang="0">
                <a:pos x="connsiteX0" y="connsiteY0"/>
              </a:cxn>
              <a:cxn ang="0">
                <a:pos x="connsiteX1" y="connsiteY1"/>
              </a:cxn>
              <a:cxn ang="0">
                <a:pos x="connsiteX2" y="connsiteY2"/>
              </a:cxn>
            </a:cxnLst>
            <a:rect l="l" t="t" r="r" b="b"/>
            <a:pathLst>
              <a:path w="880990" h="1148862">
                <a:moveTo>
                  <a:pt x="867508" y="0"/>
                </a:moveTo>
                <a:cubicBezTo>
                  <a:pt x="887046" y="296984"/>
                  <a:pt x="906585" y="593969"/>
                  <a:pt x="762000" y="785446"/>
                </a:cubicBezTo>
                <a:cubicBezTo>
                  <a:pt x="617415" y="976923"/>
                  <a:pt x="308707" y="1062892"/>
                  <a:pt x="0" y="1148862"/>
                </a:cubicBezTo>
              </a:path>
            </a:pathLst>
          </a:custGeom>
          <a:noFill/>
          <a:ln w="38100">
            <a:solidFill>
              <a:srgbClr val="00B0F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C106CCFD-2D20-0DCD-26D0-D401CFE1ACE2}"/>
              </a:ext>
            </a:extLst>
          </p:cNvPr>
          <p:cNvSpPr/>
          <p:nvPr/>
        </p:nvSpPr>
        <p:spPr>
          <a:xfrm>
            <a:off x="2042048" y="1388683"/>
            <a:ext cx="2157046" cy="690505"/>
          </a:xfrm>
          <a:prstGeom prst="roundRect">
            <a:avLst/>
          </a:prstGeom>
          <a:noFill/>
          <a:ln w="25400">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CAC1A5B4-84FB-3BB3-1A71-2980ADD69779}"/>
              </a:ext>
            </a:extLst>
          </p:cNvPr>
          <p:cNvSpPr/>
          <p:nvPr/>
        </p:nvSpPr>
        <p:spPr>
          <a:xfrm>
            <a:off x="1385555" y="4651083"/>
            <a:ext cx="1312985" cy="343708"/>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23503222-D9A6-22A7-8B1D-15BC309765D3}"/>
              </a:ext>
            </a:extLst>
          </p:cNvPr>
          <p:cNvSpPr/>
          <p:nvPr/>
        </p:nvSpPr>
        <p:spPr>
          <a:xfrm>
            <a:off x="1063353" y="3429000"/>
            <a:ext cx="1312985" cy="343708"/>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275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CE7F9-2656-643E-AC36-C26F213665F7}"/>
              </a:ext>
            </a:extLst>
          </p:cNvPr>
          <p:cNvSpPr>
            <a:spLocks noGrp="1"/>
          </p:cNvSpPr>
          <p:nvPr>
            <p:ph type="title"/>
          </p:nvPr>
        </p:nvSpPr>
        <p:spPr>
          <a:xfrm>
            <a:off x="838200" y="26079"/>
            <a:ext cx="10515600" cy="1325563"/>
          </a:xfrm>
        </p:spPr>
        <p:txBody>
          <a:bodyPr/>
          <a:lstStyle/>
          <a:p>
            <a:r>
              <a:rPr lang="en-US" dirty="0"/>
              <a:t>Where are my visitors coming from?</a:t>
            </a:r>
          </a:p>
        </p:txBody>
      </p:sp>
      <p:pic>
        <p:nvPicPr>
          <p:cNvPr id="5" name="Content Placeholder 4" descr="Graphical user interface, application&#10;&#10;Description automatically generated">
            <a:extLst>
              <a:ext uri="{FF2B5EF4-FFF2-40B4-BE49-F238E27FC236}">
                <a16:creationId xmlns:a16="http://schemas.microsoft.com/office/drawing/2014/main" id="{CDD16E3A-5DFF-B78B-4368-413E1C70A2B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8637" y="1351642"/>
            <a:ext cx="9446135" cy="5141233"/>
          </a:xfrm>
        </p:spPr>
      </p:pic>
      <p:sp>
        <p:nvSpPr>
          <p:cNvPr id="6" name="Rounded Rectangle 5">
            <a:extLst>
              <a:ext uri="{FF2B5EF4-FFF2-40B4-BE49-F238E27FC236}">
                <a16:creationId xmlns:a16="http://schemas.microsoft.com/office/drawing/2014/main" id="{B1631B04-D80D-90EA-65F3-3D48110A3605}"/>
              </a:ext>
            </a:extLst>
          </p:cNvPr>
          <p:cNvSpPr/>
          <p:nvPr/>
        </p:nvSpPr>
        <p:spPr>
          <a:xfrm>
            <a:off x="2417745" y="5552381"/>
            <a:ext cx="1689798" cy="398475"/>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BEE23016-6FC6-46EB-4B4B-A600C826FB6E}"/>
              </a:ext>
            </a:extLst>
          </p:cNvPr>
          <p:cNvSpPr/>
          <p:nvPr/>
        </p:nvSpPr>
        <p:spPr>
          <a:xfrm>
            <a:off x="4842190" y="3496708"/>
            <a:ext cx="2157046" cy="2996167"/>
          </a:xfrm>
          <a:prstGeom prst="roundRect">
            <a:avLst/>
          </a:prstGeom>
          <a:noFill/>
          <a:ln w="25400">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9F94C53C-5EDE-7FC3-0436-5C26060DEE42}"/>
              </a:ext>
            </a:extLst>
          </p:cNvPr>
          <p:cNvSpPr/>
          <p:nvPr/>
        </p:nvSpPr>
        <p:spPr>
          <a:xfrm rot="536832">
            <a:off x="7008262" y="2499594"/>
            <a:ext cx="880990" cy="1148862"/>
          </a:xfrm>
          <a:custGeom>
            <a:avLst/>
            <a:gdLst>
              <a:gd name="connsiteX0" fmla="*/ 867508 w 880990"/>
              <a:gd name="connsiteY0" fmla="*/ 0 h 1148862"/>
              <a:gd name="connsiteX1" fmla="*/ 762000 w 880990"/>
              <a:gd name="connsiteY1" fmla="*/ 785446 h 1148862"/>
              <a:gd name="connsiteX2" fmla="*/ 0 w 880990"/>
              <a:gd name="connsiteY2" fmla="*/ 1148862 h 1148862"/>
            </a:gdLst>
            <a:ahLst/>
            <a:cxnLst>
              <a:cxn ang="0">
                <a:pos x="connsiteX0" y="connsiteY0"/>
              </a:cxn>
              <a:cxn ang="0">
                <a:pos x="connsiteX1" y="connsiteY1"/>
              </a:cxn>
              <a:cxn ang="0">
                <a:pos x="connsiteX2" y="connsiteY2"/>
              </a:cxn>
            </a:cxnLst>
            <a:rect l="l" t="t" r="r" b="b"/>
            <a:pathLst>
              <a:path w="880990" h="1148862">
                <a:moveTo>
                  <a:pt x="867508" y="0"/>
                </a:moveTo>
                <a:cubicBezTo>
                  <a:pt x="887046" y="296984"/>
                  <a:pt x="906585" y="593969"/>
                  <a:pt x="762000" y="785446"/>
                </a:cubicBezTo>
                <a:cubicBezTo>
                  <a:pt x="617415" y="976923"/>
                  <a:pt x="308707" y="1062892"/>
                  <a:pt x="0" y="1148862"/>
                </a:cubicBezTo>
              </a:path>
            </a:pathLst>
          </a:custGeom>
          <a:noFill/>
          <a:ln w="38100">
            <a:solidFill>
              <a:srgbClr val="00B0F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34FF39D7-8C74-E255-B422-D9A6F2649658}"/>
              </a:ext>
            </a:extLst>
          </p:cNvPr>
          <p:cNvSpPr/>
          <p:nvPr/>
        </p:nvSpPr>
        <p:spPr>
          <a:xfrm>
            <a:off x="3029020" y="1346447"/>
            <a:ext cx="2157046" cy="690505"/>
          </a:xfrm>
          <a:prstGeom prst="roundRect">
            <a:avLst/>
          </a:prstGeom>
          <a:noFill/>
          <a:ln w="25400">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92CADD4D-A24F-5AB6-AA54-D7D0512E8E83}"/>
              </a:ext>
            </a:extLst>
          </p:cNvPr>
          <p:cNvSpPr/>
          <p:nvPr/>
        </p:nvSpPr>
        <p:spPr>
          <a:xfrm>
            <a:off x="5184598" y="2467690"/>
            <a:ext cx="1312985" cy="343708"/>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2FF55B90-2AD8-7B8B-D995-EE00D2A91FDA}"/>
              </a:ext>
            </a:extLst>
          </p:cNvPr>
          <p:cNvSpPr/>
          <p:nvPr/>
        </p:nvSpPr>
        <p:spPr>
          <a:xfrm>
            <a:off x="2047630" y="4867071"/>
            <a:ext cx="1689798" cy="398475"/>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2298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05B1C-5FC4-5A93-16F1-29056E40CB84}"/>
              </a:ext>
            </a:extLst>
          </p:cNvPr>
          <p:cNvSpPr>
            <a:spLocks noGrp="1"/>
          </p:cNvSpPr>
          <p:nvPr>
            <p:ph type="title"/>
          </p:nvPr>
        </p:nvSpPr>
        <p:spPr>
          <a:xfrm>
            <a:off x="218584" y="75235"/>
            <a:ext cx="11754830" cy="1325563"/>
          </a:xfrm>
        </p:spPr>
        <p:txBody>
          <a:bodyPr/>
          <a:lstStyle/>
          <a:p>
            <a:r>
              <a:rPr lang="en-US" dirty="0">
                <a:ea typeface="Calibri Light"/>
                <a:cs typeface="Calibri Light"/>
              </a:rPr>
              <a:t>Did my Google Analytics campaign generate traffic?</a:t>
            </a:r>
            <a:endParaRPr lang="en-US" dirty="0"/>
          </a:p>
        </p:txBody>
      </p:sp>
      <p:pic>
        <p:nvPicPr>
          <p:cNvPr id="5" name="Content Placeholder 4" descr="Graphical user interface&#10;&#10;Description automatically generated">
            <a:extLst>
              <a:ext uri="{FF2B5EF4-FFF2-40B4-BE49-F238E27FC236}">
                <a16:creationId xmlns:a16="http://schemas.microsoft.com/office/drawing/2014/main" id="{C63AFD52-A018-5AB4-C580-C9FDDE83EB5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70222" y="1375250"/>
            <a:ext cx="10851555" cy="5010309"/>
          </a:xfrm>
        </p:spPr>
      </p:pic>
      <p:sp>
        <p:nvSpPr>
          <p:cNvPr id="7" name="Rounded Rectangle 6">
            <a:extLst>
              <a:ext uri="{FF2B5EF4-FFF2-40B4-BE49-F238E27FC236}">
                <a16:creationId xmlns:a16="http://schemas.microsoft.com/office/drawing/2014/main" id="{5D37F32D-D148-6B74-0F12-F92E2EEF6A83}"/>
              </a:ext>
            </a:extLst>
          </p:cNvPr>
          <p:cNvSpPr/>
          <p:nvPr/>
        </p:nvSpPr>
        <p:spPr>
          <a:xfrm>
            <a:off x="4067908" y="2743200"/>
            <a:ext cx="1946030" cy="480646"/>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82EA65DA-47CD-BF6E-0F86-08983671833D}"/>
              </a:ext>
            </a:extLst>
          </p:cNvPr>
          <p:cNvSpPr/>
          <p:nvPr/>
        </p:nvSpPr>
        <p:spPr>
          <a:xfrm>
            <a:off x="1383323" y="3780946"/>
            <a:ext cx="1312985" cy="343708"/>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9FB666F6-8626-93F0-96D9-F62D4E517B97}"/>
              </a:ext>
            </a:extLst>
          </p:cNvPr>
          <p:cNvSpPr/>
          <p:nvPr/>
        </p:nvSpPr>
        <p:spPr>
          <a:xfrm>
            <a:off x="1056080" y="2880138"/>
            <a:ext cx="1312985" cy="343708"/>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7DB63147-03CE-8A57-A13F-1A638AD0D191}"/>
              </a:ext>
            </a:extLst>
          </p:cNvPr>
          <p:cNvSpPr/>
          <p:nvPr/>
        </p:nvSpPr>
        <p:spPr>
          <a:xfrm>
            <a:off x="3751385" y="3952800"/>
            <a:ext cx="2157046" cy="2096308"/>
          </a:xfrm>
          <a:prstGeom prst="roundRect">
            <a:avLst/>
          </a:prstGeom>
          <a:noFill/>
          <a:ln w="25400">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FFEB8876-80A5-1B46-0895-00322FF3F073}"/>
              </a:ext>
            </a:extLst>
          </p:cNvPr>
          <p:cNvSpPr/>
          <p:nvPr/>
        </p:nvSpPr>
        <p:spPr>
          <a:xfrm rot="20278100">
            <a:off x="5494814" y="3175283"/>
            <a:ext cx="880990" cy="1148862"/>
          </a:xfrm>
          <a:custGeom>
            <a:avLst/>
            <a:gdLst>
              <a:gd name="connsiteX0" fmla="*/ 867508 w 880990"/>
              <a:gd name="connsiteY0" fmla="*/ 0 h 1148862"/>
              <a:gd name="connsiteX1" fmla="*/ 762000 w 880990"/>
              <a:gd name="connsiteY1" fmla="*/ 785446 h 1148862"/>
              <a:gd name="connsiteX2" fmla="*/ 0 w 880990"/>
              <a:gd name="connsiteY2" fmla="*/ 1148862 h 1148862"/>
            </a:gdLst>
            <a:ahLst/>
            <a:cxnLst>
              <a:cxn ang="0">
                <a:pos x="connsiteX0" y="connsiteY0"/>
              </a:cxn>
              <a:cxn ang="0">
                <a:pos x="connsiteX1" y="connsiteY1"/>
              </a:cxn>
              <a:cxn ang="0">
                <a:pos x="connsiteX2" y="connsiteY2"/>
              </a:cxn>
            </a:cxnLst>
            <a:rect l="l" t="t" r="r" b="b"/>
            <a:pathLst>
              <a:path w="880990" h="1148862">
                <a:moveTo>
                  <a:pt x="867508" y="0"/>
                </a:moveTo>
                <a:cubicBezTo>
                  <a:pt x="887046" y="296984"/>
                  <a:pt x="906585" y="593969"/>
                  <a:pt x="762000" y="785446"/>
                </a:cubicBezTo>
                <a:cubicBezTo>
                  <a:pt x="617415" y="976923"/>
                  <a:pt x="308707" y="1062892"/>
                  <a:pt x="0" y="1148862"/>
                </a:cubicBezTo>
              </a:path>
            </a:pathLst>
          </a:custGeom>
          <a:noFill/>
          <a:ln w="38100">
            <a:solidFill>
              <a:srgbClr val="00B0F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2C995A7C-63F2-3B77-3266-908A8474D538}"/>
              </a:ext>
            </a:extLst>
          </p:cNvPr>
          <p:cNvSpPr/>
          <p:nvPr/>
        </p:nvSpPr>
        <p:spPr>
          <a:xfrm>
            <a:off x="1857105" y="1178887"/>
            <a:ext cx="2157046" cy="819510"/>
          </a:xfrm>
          <a:prstGeom prst="roundRect">
            <a:avLst/>
          </a:prstGeom>
          <a:noFill/>
          <a:ln w="25400">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9725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8DCA1-94B3-3C6B-9223-4B9795816D97}"/>
              </a:ext>
            </a:extLst>
          </p:cNvPr>
          <p:cNvSpPr>
            <a:spLocks noGrp="1"/>
          </p:cNvSpPr>
          <p:nvPr>
            <p:ph type="title"/>
          </p:nvPr>
        </p:nvSpPr>
        <p:spPr>
          <a:xfrm>
            <a:off x="419099" y="297091"/>
            <a:ext cx="11353800" cy="1325563"/>
          </a:xfrm>
        </p:spPr>
        <p:txBody>
          <a:bodyPr/>
          <a:lstStyle/>
          <a:p>
            <a:r>
              <a:rPr lang="en-US" dirty="0"/>
              <a:t>How much time are users spending on my pages?</a:t>
            </a:r>
          </a:p>
        </p:txBody>
      </p:sp>
      <p:pic>
        <p:nvPicPr>
          <p:cNvPr id="5" name="Content Placeholder 4" descr="Graphical user interface, application&#10;&#10;Description automatically generated">
            <a:extLst>
              <a:ext uri="{FF2B5EF4-FFF2-40B4-BE49-F238E27FC236}">
                <a16:creationId xmlns:a16="http://schemas.microsoft.com/office/drawing/2014/main" id="{D666211A-58BA-F498-4C06-1E58779F51A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8115" y="1930174"/>
            <a:ext cx="10875769" cy="4927826"/>
          </a:xfrm>
        </p:spPr>
      </p:pic>
      <p:sp>
        <p:nvSpPr>
          <p:cNvPr id="6" name="Rounded Rectangle 5">
            <a:extLst>
              <a:ext uri="{FF2B5EF4-FFF2-40B4-BE49-F238E27FC236}">
                <a16:creationId xmlns:a16="http://schemas.microsoft.com/office/drawing/2014/main" id="{480F56F3-EEE2-9924-A01F-083345A78AD0}"/>
              </a:ext>
            </a:extLst>
          </p:cNvPr>
          <p:cNvSpPr/>
          <p:nvPr/>
        </p:nvSpPr>
        <p:spPr>
          <a:xfrm>
            <a:off x="4038879" y="3309258"/>
            <a:ext cx="1946030" cy="480646"/>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8C16B1E1-ED90-1FC8-8081-8B9761932495}"/>
              </a:ext>
            </a:extLst>
          </p:cNvPr>
          <p:cNvSpPr/>
          <p:nvPr/>
        </p:nvSpPr>
        <p:spPr>
          <a:xfrm>
            <a:off x="1172307" y="3980431"/>
            <a:ext cx="1946030" cy="480646"/>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DB643E79-DD4D-FDCC-9D52-574932EE7B4C}"/>
              </a:ext>
            </a:extLst>
          </p:cNvPr>
          <p:cNvSpPr/>
          <p:nvPr/>
        </p:nvSpPr>
        <p:spPr>
          <a:xfrm>
            <a:off x="3896581" y="4464601"/>
            <a:ext cx="2157046" cy="2096308"/>
          </a:xfrm>
          <a:prstGeom prst="roundRect">
            <a:avLst/>
          </a:prstGeom>
          <a:noFill/>
          <a:ln w="25400">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a:extLst>
              <a:ext uri="{FF2B5EF4-FFF2-40B4-BE49-F238E27FC236}">
                <a16:creationId xmlns:a16="http://schemas.microsoft.com/office/drawing/2014/main" id="{B37D9F34-F81C-D026-AEDF-B568D3D39DD7}"/>
              </a:ext>
            </a:extLst>
          </p:cNvPr>
          <p:cNvSpPr/>
          <p:nvPr/>
        </p:nvSpPr>
        <p:spPr>
          <a:xfrm rot="20278100">
            <a:off x="10913305" y="2690022"/>
            <a:ext cx="880990" cy="1148862"/>
          </a:xfrm>
          <a:custGeom>
            <a:avLst/>
            <a:gdLst>
              <a:gd name="connsiteX0" fmla="*/ 867508 w 880990"/>
              <a:gd name="connsiteY0" fmla="*/ 0 h 1148862"/>
              <a:gd name="connsiteX1" fmla="*/ 762000 w 880990"/>
              <a:gd name="connsiteY1" fmla="*/ 785446 h 1148862"/>
              <a:gd name="connsiteX2" fmla="*/ 0 w 880990"/>
              <a:gd name="connsiteY2" fmla="*/ 1148862 h 1148862"/>
            </a:gdLst>
            <a:ahLst/>
            <a:cxnLst>
              <a:cxn ang="0">
                <a:pos x="connsiteX0" y="connsiteY0"/>
              </a:cxn>
              <a:cxn ang="0">
                <a:pos x="connsiteX1" y="connsiteY1"/>
              </a:cxn>
              <a:cxn ang="0">
                <a:pos x="connsiteX2" y="connsiteY2"/>
              </a:cxn>
            </a:cxnLst>
            <a:rect l="l" t="t" r="r" b="b"/>
            <a:pathLst>
              <a:path w="880990" h="1148862">
                <a:moveTo>
                  <a:pt x="867508" y="0"/>
                </a:moveTo>
                <a:cubicBezTo>
                  <a:pt x="887046" y="296984"/>
                  <a:pt x="906585" y="593969"/>
                  <a:pt x="762000" y="785446"/>
                </a:cubicBezTo>
                <a:cubicBezTo>
                  <a:pt x="617415" y="976923"/>
                  <a:pt x="308707" y="1062892"/>
                  <a:pt x="0" y="1148862"/>
                </a:cubicBezTo>
              </a:path>
            </a:pathLst>
          </a:custGeom>
          <a:noFill/>
          <a:ln w="38100">
            <a:solidFill>
              <a:srgbClr val="00B0F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FDCD7AF8-FF49-FB90-ED54-15EBCFA54FCC}"/>
              </a:ext>
            </a:extLst>
          </p:cNvPr>
          <p:cNvSpPr/>
          <p:nvPr/>
        </p:nvSpPr>
        <p:spPr>
          <a:xfrm>
            <a:off x="1845043" y="1771987"/>
            <a:ext cx="2157046" cy="819510"/>
          </a:xfrm>
          <a:prstGeom prst="roundRect">
            <a:avLst/>
          </a:prstGeom>
          <a:noFill/>
          <a:ln w="25400">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6CFBAB3C-318A-0A65-5755-E6E5CD03DCD5}"/>
              </a:ext>
            </a:extLst>
          </p:cNvPr>
          <p:cNvSpPr/>
          <p:nvPr/>
        </p:nvSpPr>
        <p:spPr>
          <a:xfrm>
            <a:off x="10201519" y="3962176"/>
            <a:ext cx="1247619" cy="2595209"/>
          </a:xfrm>
          <a:prstGeom prst="roundRect">
            <a:avLst/>
          </a:prstGeom>
          <a:noFill/>
          <a:ln w="25400">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87251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54</TotalTime>
  <Words>224</Words>
  <Application>Microsoft Macintosh PowerPoint</Application>
  <PresentationFormat>Widescreen</PresentationFormat>
  <Paragraphs>24</Paragraphs>
  <Slides>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Google Analytics report</vt:lpstr>
      <vt:lpstr>Summary</vt:lpstr>
      <vt:lpstr>How many visitors came to my site?</vt:lpstr>
      <vt:lpstr>How many of my visitors returned to my site?</vt:lpstr>
      <vt:lpstr>What are my most popular pages?</vt:lpstr>
      <vt:lpstr>Where are my visitors coming from?</vt:lpstr>
      <vt:lpstr>Did my Google Analytics campaign generate traffic?</vt:lpstr>
      <vt:lpstr>How much time are users spending on my pages?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Mike Colbert</cp:lastModifiedBy>
  <cp:revision>15</cp:revision>
  <dcterms:created xsi:type="dcterms:W3CDTF">2023-05-04T13:30:21Z</dcterms:created>
  <dcterms:modified xsi:type="dcterms:W3CDTF">2023-05-04T15:02:14Z</dcterms:modified>
</cp:coreProperties>
</file>